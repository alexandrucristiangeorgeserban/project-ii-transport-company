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0080625" cy="5670550"/>
  <p:notesSz cx="7772400" cy="100584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48" d="100"/>
          <a:sy n="148" d="100"/>
        </p:scale>
        <p:origin x="-102" y="-72"/>
      </p:cViewPr>
      <p:guideLst>
        <p:guide orient="horz" pos="1786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97F1F0A-6B63-464F-B771-41A0AA95C26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CD852D0-1AED-445C-8A3F-E86FE0BFA60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BA0E184-B7B5-4AAD-90BD-83CD0BAC42B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Transport Company Management System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Functionalities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r>
              <a:rPr lang="en-US" sz="3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User </a:t>
            </a:r>
            <a:r>
              <a:rPr lang="en-US" sz="3200" b="1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Authentification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287784" y="1323107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20000"/>
          </a:bodyPr>
          <a:lstStyle/>
          <a:p>
            <a:pPr algn="l">
              <a:spcBef>
                <a:spcPts val="1417"/>
              </a:spcBef>
            </a:pP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</a:t>
            </a:r>
            <a:r>
              <a:rPr lang="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REQ-01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 The app must have a text box for the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username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2000" dirty="0" smtClean="0">
                <a:latin typeface="Times New Roman"/>
              </a:rPr>
              <a:t>✔</a:t>
            </a:r>
            <a:r>
              <a:rPr lang="" sz="2000" dirty="0" smtClean="0">
                <a:latin typeface="Times New Roman"/>
              </a:rPr>
              <a:t> </a:t>
            </a:r>
            <a:r>
              <a:rPr lang="en-US" sz="2000" dirty="0" smtClean="0">
                <a:latin typeface="Times New Roman"/>
              </a:rPr>
              <a:t>REQ-02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: The app must have a text box for the password</a:t>
            </a:r>
            <a:r>
              <a:rPr lang="en-US" sz="2000" dirty="0">
                <a:latin typeface="Times New Roman"/>
              </a:rPr>
              <a:t>.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2000" dirty="0" smtClean="0">
                <a:latin typeface="Times New Roman"/>
              </a:rPr>
              <a:t>✔</a:t>
            </a:r>
            <a:r>
              <a:rPr lang="" sz="2000" dirty="0" smtClean="0">
                <a:latin typeface="Times New Roman"/>
              </a:rPr>
              <a:t> </a:t>
            </a:r>
            <a:r>
              <a:rPr lang="en-US" sz="2000" dirty="0" smtClean="0">
                <a:latin typeface="Times New Roman"/>
              </a:rPr>
              <a:t>REQ-03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: The app must have a login button.</a:t>
            </a: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2000" dirty="0" smtClean="0">
                <a:latin typeface="Times New Roman"/>
              </a:rPr>
              <a:t>✔</a:t>
            </a:r>
            <a:r>
              <a:rPr lang="" sz="2000" dirty="0" smtClean="0">
                <a:latin typeface="Times New Roman"/>
              </a:rPr>
              <a:t> </a:t>
            </a:r>
            <a:r>
              <a:rPr lang="en-US" sz="2000" dirty="0" smtClean="0">
                <a:latin typeface="Times New Roman"/>
              </a:rPr>
              <a:t>REQ-04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: The login function must take exactly 2 parameters.</a:t>
            </a: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2000" dirty="0" smtClean="0">
                <a:latin typeface="Times New Roman"/>
              </a:rPr>
              <a:t>✔</a:t>
            </a:r>
            <a:r>
              <a:rPr lang="" sz="2000" dirty="0" smtClean="0">
                <a:latin typeface="Times New Roman"/>
              </a:rPr>
              <a:t> </a:t>
            </a:r>
            <a:r>
              <a:rPr lang="en-US" sz="2000" dirty="0" smtClean="0">
                <a:latin typeface="Times New Roman"/>
              </a:rPr>
              <a:t>REQ-05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: The system must check the database to see if the user exists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2000" dirty="0" smtClean="0">
                <a:latin typeface="Times New Roman"/>
              </a:rPr>
              <a:t>✔</a:t>
            </a:r>
            <a:r>
              <a:rPr lang="" sz="2000" dirty="0" smtClean="0">
                <a:latin typeface="Times New Roman"/>
              </a:rPr>
              <a:t> </a:t>
            </a:r>
            <a:r>
              <a:rPr lang="en-US" sz="2000" dirty="0" smtClean="0">
                <a:latin typeface="Times New Roman"/>
              </a:rPr>
              <a:t>REQ-06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: The system must block the user after 3 bad passwords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2000" dirty="0" smtClean="0">
                <a:latin typeface="Times New Roman"/>
              </a:rPr>
              <a:t>✔</a:t>
            </a:r>
            <a:r>
              <a:rPr lang="" sz="2000" dirty="0" smtClean="0">
                <a:latin typeface="Times New Roman"/>
              </a:rPr>
              <a:t> </a:t>
            </a:r>
            <a:r>
              <a:rPr lang="en-US" sz="2000" dirty="0" smtClean="0">
                <a:latin typeface="Times New Roman"/>
              </a:rPr>
              <a:t>REQ-07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: The system must show the right screen depending on the user type.</a:t>
            </a: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2000" dirty="0" smtClean="0">
                <a:latin typeface="Times New Roman"/>
              </a:rPr>
              <a:t>✔</a:t>
            </a:r>
            <a:r>
              <a:rPr lang="" sz="2000" dirty="0" smtClean="0">
                <a:latin typeface="Times New Roman"/>
              </a:rPr>
              <a:t> </a:t>
            </a:r>
            <a:r>
              <a:rPr lang="en-US" sz="2000" dirty="0" smtClean="0">
                <a:latin typeface="Times New Roman"/>
              </a:rPr>
              <a:t>REQ-08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: The app must have a log out button.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r>
              <a:rPr lang="en-US" sz="3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Fleet Management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algn="l">
              <a:spcBef>
                <a:spcPts val="1417"/>
              </a:spcBef>
            </a:pPr>
            <a:r>
              <a:rPr lang="en-US" sz="2000" dirty="0" smtClean="0">
                <a:latin typeface="New times roman"/>
              </a:rPr>
              <a:t>✔</a:t>
            </a:r>
            <a:r>
              <a:rPr lang="" sz="2000" smtClean="0">
                <a:latin typeface="New times roman"/>
              </a:rPr>
              <a:t> </a:t>
            </a:r>
            <a:r>
              <a:rPr lang="en-US" sz="2000" dirty="0" smtClean="0">
                <a:latin typeface="New times roman"/>
              </a:rPr>
              <a:t>REQ-09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Admins must choose the vehicle type only from: Truck, Van, Lorrie, Ship, Airplane, or Train.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2000" dirty="0" smtClean="0">
                <a:latin typeface="New times roman"/>
              </a:rPr>
              <a:t>✔</a:t>
            </a:r>
            <a:r>
              <a:rPr lang="" sz="2000" smtClean="0">
                <a:latin typeface="New times roman"/>
              </a:rPr>
              <a:t> </a:t>
            </a:r>
            <a:r>
              <a:rPr lang="en-US" sz="2000" dirty="0" smtClean="0">
                <a:latin typeface="New times roman"/>
              </a:rPr>
              <a:t>REQ-10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must save the name or ID of the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vehicle.</a:t>
            </a:r>
            <a:endParaRPr lang="en-US" sz="2000" b="0" u="none" strike="noStrike" dirty="0" smtClean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2000" dirty="0" smtClean="0">
                <a:latin typeface="New times roman"/>
              </a:rPr>
              <a:t>✔</a:t>
            </a:r>
            <a:r>
              <a:rPr lang="" sz="2000" smtClean="0">
                <a:latin typeface="New times roman"/>
              </a:rPr>
              <a:t> </a:t>
            </a:r>
            <a:r>
              <a:rPr lang="en-US" sz="2000" dirty="0" smtClean="0">
                <a:latin typeface="New times roman"/>
              </a:rPr>
              <a:t>REQ-11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must save the maximum cargo capacity (in kg or volume) the vehicle has.</a:t>
            </a:r>
            <a:endParaRPr lang="en-US" sz="2000" b="0" u="none" strike="noStrike" dirty="0" smtClean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2000" dirty="0">
                <a:latin typeface="New times roman"/>
              </a:rPr>
              <a:t>✔</a:t>
            </a:r>
            <a:r>
              <a:rPr lang="" sz="2000" dirty="0">
                <a:latin typeface="New times roman"/>
              </a:rPr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REQ-12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must show if the vehicle is free, has fuel or it's busy.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2000" dirty="0">
                <a:latin typeface="New times roman"/>
              </a:rPr>
              <a:t>✔</a:t>
            </a:r>
            <a:r>
              <a:rPr lang="" sz="2000" dirty="0">
                <a:latin typeface="New times roman"/>
              </a:rPr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REQ-13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must show if the vehicle is broken and needs repairs.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2000" dirty="0">
                <a:latin typeface="New times roman"/>
              </a:rPr>
              <a:t>✔</a:t>
            </a:r>
            <a:r>
              <a:rPr lang="" sz="2000" dirty="0">
                <a:latin typeface="New times roman"/>
              </a:rPr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REQ-14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must show the assigned driver or pilot for each vehicle.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2000" dirty="0">
                <a:latin typeface="New times roman"/>
              </a:rPr>
              <a:t>✔</a:t>
            </a:r>
            <a:r>
              <a:rPr lang="" sz="2000" dirty="0">
                <a:latin typeface="New times roman"/>
              </a:rPr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REQ-15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app must save all the vehicles in a local file.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Driver Management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algn="l">
              <a:spcBef>
                <a:spcPts val="1417"/>
              </a:spcBef>
            </a:pPr>
            <a:r>
              <a:rPr lang="en-US" sz="2000" dirty="0"/>
              <a:t>✔</a:t>
            </a:r>
            <a:r>
              <a:rPr lang="ro-RO" sz="2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REQ-16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Administrators will be able to add drivers.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2000" dirty="0"/>
              <a:t>✔</a:t>
            </a:r>
            <a:r>
              <a:rPr lang="ro-RO" sz="2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REQ-17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Administrators will be able to modify drivers.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2000" dirty="0"/>
              <a:t>✔</a:t>
            </a:r>
            <a:r>
              <a:rPr lang="ro-RO" sz="2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REQ-18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Administrators will be able to activate drivers.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2000" dirty="0"/>
              <a:t>✔</a:t>
            </a:r>
            <a:r>
              <a:rPr lang="ro-RO" sz="2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REQ-19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Administrators will be able to deactivate drivers.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2000" dirty="0"/>
              <a:t>✔</a:t>
            </a:r>
            <a:r>
              <a:rPr lang="ro-RO" sz="2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REQ-20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Each driver will have a profile containing personal data.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2000" dirty="0"/>
              <a:t>✔</a:t>
            </a:r>
            <a:r>
              <a:rPr lang="ro-RO" sz="2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REQ-21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Each driver will have a profile containing licenses.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2000" dirty="0"/>
              <a:t>✔</a:t>
            </a:r>
            <a:r>
              <a:rPr lang="ro-RO" sz="2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REQ-22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Each driver will have a profile containing experience.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2000" dirty="0"/>
              <a:t>✔</a:t>
            </a:r>
            <a:r>
              <a:rPr lang="ro-RO" sz="2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REQ-23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Each driver will have a profile containing availability.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Client Portal &amp; Requests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20000"/>
          </a:bodyPr>
          <a:lstStyle/>
          <a:p>
            <a:pPr algn="l">
              <a:spcBef>
                <a:spcPts val="1417"/>
              </a:spcBef>
            </a:pPr>
            <a:r>
              <a:rPr lang="en-US" sz="1100" dirty="0"/>
              <a:t>✔</a:t>
            </a:r>
            <a:r>
              <a:rPr lang="ro-RO" sz="11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REQ-24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Customers will be able to create an account.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457200" indent="-228600" algn="l">
              <a:spcBef>
                <a:spcPts val="1417"/>
              </a:spcBef>
            </a:pPr>
            <a:r>
              <a:rPr lang="en-US" sz="1100" dirty="0"/>
              <a:t>✔</a:t>
            </a:r>
            <a:r>
              <a:rPr lang="ro-RO" sz="11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REQ-24.1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require the customer to input their Date of Birth during account creation.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457200" indent="-228600" algn="l">
              <a:spcBef>
                <a:spcPts val="1417"/>
              </a:spcBef>
            </a:pPr>
            <a:r>
              <a:rPr lang="en-US" sz="1100" dirty="0"/>
              <a:t>✔</a:t>
            </a:r>
            <a:r>
              <a:rPr lang="ro-RO" sz="11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REQ-24.2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prevent users under the age of 13 from creating an account and submitting transport requests.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100" dirty="0"/>
              <a:t>✔</a:t>
            </a:r>
            <a:r>
              <a:rPr lang="ro-RO" sz="11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REQ-25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Customers will be able to submit transport requests specifying cargo details.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100" dirty="0"/>
              <a:t>✔</a:t>
            </a:r>
            <a:r>
              <a:rPr lang="ro-RO" sz="11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REQ-26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Customers will be able to submit transport requests specifying weight.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100" dirty="0"/>
              <a:t>✔</a:t>
            </a:r>
            <a:r>
              <a:rPr lang="ro-RO" sz="11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REQ-27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Customers will be able to submit transport requests specifying volume.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100" dirty="0"/>
              <a:t>✔</a:t>
            </a:r>
            <a:r>
              <a:rPr lang="ro-RO" sz="11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REQ-28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Customers will be able to submit transport requests specifying pickup locations.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100" dirty="0"/>
              <a:t>✔</a:t>
            </a:r>
            <a:r>
              <a:rPr lang="ro-RO" sz="11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REQ-29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Customers will be able to submit transport requests specifying delivery locations.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100" dirty="0"/>
              <a:t>✔</a:t>
            </a:r>
            <a:r>
              <a:rPr lang="ro-RO" sz="11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REQ-30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Customers will be able to submit transport requests specifying preferred dates.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100" dirty="0"/>
              <a:t>✔</a:t>
            </a:r>
            <a:r>
              <a:rPr lang="ro-RO" sz="11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REQ-31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will allow clients to view the status of their submitted requests.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Logistics Notification &amp; Storage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/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REQ-32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will store all incoming requests.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REQ-33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will notify company staff for processing.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REQ-34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driver list will be saved in a file in a predetermined format.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REQ-35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A database server will be configured for storing and managing all information.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REQ-36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provide a real-time alert (UI badge) to logistics staff when a new request arrives.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REQ-37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log the timestamp of request creation.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REQ-38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assign a unique ID to every incoming transport request.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REQ-39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encrypt stored passwords in the database.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Allocation Module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/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REQ-40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Company staff will be able to allocate a vehicle to each request.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REQ-41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Company staff will be able to allocate a driver to each request.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REQ-42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allocation must be based on availability constraints.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REQ-43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allocation must be based on capacity constraints.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REQ-44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allocation must be based on route constraints.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REQ-45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allocation must be based on scheduling constraints.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REQ-46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prevent staff from assigning a vehicle that lacks sufficient capacity.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REQ-47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visually distinguish between available and unavailable resources.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Price Offer Generation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/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REQ-48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will automatically generate a price offer for each request.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REQ-49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price offer will be based on distance.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REQ-50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price offer will be based on cargo characteristics.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REQ-51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price offer will be based on resource usage.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REQ-52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allow staff to override the automatically generated price before sending.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REQ-53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attach a validity period to the generated price offer.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REQ-54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store the history of generated price offers.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REQ-55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ensure the price offer is communicated to the customer.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Customer Offer Workflow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20000"/>
          </a:bodyPr>
          <a:lstStyle/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REQ-56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Customers will receive the price offer.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REQ-57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Customers will be able to accept it through the system.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REQ-58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Customers will be able to reject it through the system.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REQ-59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update the status of the request to "Accepted" if the customer accepts.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REQ-60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update the status of the request to "Rejected" if the customer rejects.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REQ-61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notify logistics staff of the customer's decision.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REQ-62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prevent customers from modifying a request after an offer is generated.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REQ-63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cancel offers automatically if not accepted within the validity period.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Job Scheduling &amp; Tracking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20000"/>
          </a:bodyPr>
          <a:lstStyle/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REQ-64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Once accepted, the system will schedule the transport job.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REQ-65: The system will track the transport job.</a:t>
            </a:r>
            <a:endParaRPr lang="en-US" sz="2000" b="0" u="none" strike="noStrike" dirty="0" smtClean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REQ-66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will update the availability of the assigned vehicle.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REQ-67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will update the availability of the assigned driver.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REQ-68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allow staff to update the job status (e.g., In Transit, Delivered).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REQ-69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mark the vehicle as available again once the job is marked "Delivered".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REQ-70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mark the driver as available again once the job is marked "Delivered".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REQ-71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log the completion timestamp of the job.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Auditing, Search, and Visualization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0000" lnSpcReduction="20000"/>
          </a:bodyPr>
          <a:lstStyle/>
          <a:p>
            <a:pPr algn="l">
              <a:spcBef>
                <a:spcPts val="1417"/>
              </a:spcBef>
            </a:pPr>
            <a:r>
              <a:rPr lang="en-US" sz="1000" dirty="0"/>
              <a:t>✔</a:t>
            </a:r>
            <a:r>
              <a:rPr lang="ro-RO" sz="1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REQ-72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will allow searching for vehicles, drivers, or transport requests by name, type, status, or date.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1000" dirty="0"/>
              <a:t>✔</a:t>
            </a:r>
            <a:r>
              <a:rPr lang="ro-RO" sz="1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REQ-73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record the username of the last staff member who modified a transport request, fulfilling the "fingerprint" requirement.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1000" dirty="0"/>
              <a:t>✔</a:t>
            </a:r>
            <a:r>
              <a:rPr lang="ro-RO" sz="1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REQ-74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record the exact timestamp when the transport request was last modified.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1000" dirty="0"/>
              <a:t>✔</a:t>
            </a:r>
            <a:r>
              <a:rPr lang="ro-RO" sz="1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REQ-75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record the username of the last staff member who modified a resource assignment (vehicle/driver).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1000" dirty="0"/>
              <a:t>✔</a:t>
            </a:r>
            <a:r>
              <a:rPr lang="ro-RO" sz="1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REQ-76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assign a specific graphic representation (e.g., a specific icon or image) to each vehicle type.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1000" dirty="0"/>
              <a:t>✔</a:t>
            </a:r>
            <a:r>
              <a:rPr lang="ro-RO" sz="1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REQ-77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visually link vehicles, drivers, and active jobs using a node-based graph or oriented lines in the UI.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1000" dirty="0"/>
              <a:t>✔</a:t>
            </a:r>
            <a:r>
              <a:rPr lang="ro-RO" sz="1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REQ-78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display annotations on the oriented lines to describe the exact relationship (e.g., "Assigned to", "Driving").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1000" dirty="0"/>
              <a:t>✔</a:t>
            </a:r>
            <a:r>
              <a:rPr lang="ro-RO" sz="1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REQ-79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information system will allow graphical visualization of the entire fleet using a color-coded dashboard.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1000" dirty="0"/>
              <a:t>✔</a:t>
            </a:r>
            <a:r>
              <a:rPr lang="ro-RO" sz="1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REQ-80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information system will allow graphical visualization of the map and the driver availability through a timeline or calendar interface.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1000" dirty="0"/>
              <a:t>✔</a:t>
            </a:r>
            <a:r>
              <a:rPr lang="ro-RO" sz="1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REQ-81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information system will allow graphical visualization of active transport requests using an interactive grid or map module.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1000" dirty="0"/>
              <a:t>✔</a:t>
            </a:r>
            <a:r>
              <a:rPr lang="ro-RO" sz="1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REQ-82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Both the client and the server applications shall provide a simple and intuitive graphical interface for users.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Reporting Module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spcBef>
                <a:spcPts val="1417"/>
              </a:spcBef>
            </a:pPr>
            <a:r>
              <a:rPr lang="en-US" sz="2000" dirty="0"/>
              <a:t>✔</a:t>
            </a:r>
            <a:r>
              <a:rPr lang="ro-RO" sz="2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REQ-83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will allow administrators and company staff to generate reports regarding fleet usage.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2000" dirty="0"/>
              <a:t>✔</a:t>
            </a:r>
            <a:r>
              <a:rPr lang="ro-RO" sz="2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REQ-84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will allow administrators and company staff to generate reports regarding driver activity.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2000" dirty="0"/>
              <a:t>✔</a:t>
            </a:r>
            <a:r>
              <a:rPr lang="ro-RO" sz="2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REQ-85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will allow administrators and company staff to generate reports regarding completed transport jobs.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2000" dirty="0"/>
              <a:t>✔</a:t>
            </a:r>
            <a:r>
              <a:rPr lang="ro-RO" sz="2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REQ-86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allow users to export the generated reports to a standard local file format (e.g., CSV or TXT).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31800" y="98971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r>
              <a:rPr lang="en-US" sz="3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Additional Features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04000" y="1179091"/>
            <a:ext cx="9071640" cy="388843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20000"/>
          </a:bodyPr>
          <a:lstStyle/>
          <a:p>
            <a:r>
              <a:rPr lang="ro-RO" sz="23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ro-RO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ro-RO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lang="ro-RO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(</a:t>
            </a:r>
            <a:r>
              <a:rPr lang="ro-RO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Chats</a:t>
            </a:r>
            <a:r>
              <a:rPr lang="ro-RO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ro-RO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Tickets</a:t>
            </a:r>
            <a:r>
              <a:rPr lang="ro-RO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" sz="2300" b="1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o-RO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1" dirty="0" smtClean="0">
                <a:latin typeface="New times roman"/>
                <a:cs typeface="Times New Roman" panose="02020603050405020304" pitchFamily="18" charset="0"/>
              </a:rPr>
              <a:t>REQ-87:</a:t>
            </a:r>
            <a:r>
              <a:rPr lang="en-US" sz="2000" dirty="0" smtClean="0">
                <a:latin typeface="New times roman"/>
                <a:cs typeface="Times New Roman" panose="02020603050405020304" pitchFamily="18" charset="0"/>
              </a:rPr>
              <a:t> The system shall provide a real-time Chat interface linking the Customer with the assigned Driver/Staff for a specific active transport job.</a:t>
            </a:r>
            <a:endParaRPr lang="" sz="2000" smtClean="0">
              <a:latin typeface="New times roman"/>
              <a:cs typeface="Times New Roman" panose="02020603050405020304" pitchFamily="18" charset="0"/>
            </a:endParaRPr>
          </a:p>
          <a:p>
            <a:pPr algn="l"/>
            <a:endParaRPr lang="en-US" sz="2000" dirty="0" smtClean="0">
              <a:latin typeface="New times roman"/>
              <a:cs typeface="Times New Roman" panose="02020603050405020304" pitchFamily="18" charset="0"/>
            </a:endParaRPr>
          </a:p>
          <a:p>
            <a:pPr algn="l"/>
            <a:r>
              <a:rPr lang="en-US" sz="1800" dirty="0" smtClean="0">
                <a:latin typeface="New times roman"/>
                <a:cs typeface="Times New Roman" panose="02020603050405020304" pitchFamily="18" charset="0"/>
              </a:rPr>
              <a:t>✔</a:t>
            </a:r>
            <a:r>
              <a:rPr lang="ro-RO" sz="1800" dirty="0" smtClean="0">
                <a:latin typeface="New times roman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New times roman"/>
                <a:cs typeface="Times New Roman" panose="02020603050405020304" pitchFamily="18" charset="0"/>
              </a:rPr>
              <a:t>REQ-88:</a:t>
            </a:r>
            <a:r>
              <a:rPr lang="en-US" sz="2000" dirty="0" smtClean="0">
                <a:latin typeface="New times roman"/>
                <a:cs typeface="Times New Roman" panose="02020603050405020304" pitchFamily="18" charset="0"/>
              </a:rPr>
              <a:t> Customers will be able to open Support Tickets to report issues or ask questions.</a:t>
            </a:r>
            <a:endParaRPr lang="" sz="2000" smtClean="0">
              <a:latin typeface="New times roman"/>
              <a:cs typeface="Times New Roman" panose="02020603050405020304" pitchFamily="18" charset="0"/>
            </a:endParaRPr>
          </a:p>
          <a:p>
            <a:pPr algn="l"/>
            <a:endParaRPr lang="en-US" sz="2000" dirty="0" smtClean="0">
              <a:latin typeface="New times roman"/>
              <a:cs typeface="Times New Roman" panose="02020603050405020304" pitchFamily="18" charset="0"/>
            </a:endParaRPr>
          </a:p>
          <a:p>
            <a:pPr algn="l"/>
            <a:r>
              <a:rPr lang="en-US" sz="1800" dirty="0" smtClean="0">
                <a:latin typeface="New times roman"/>
                <a:cs typeface="Times New Roman" panose="02020603050405020304" pitchFamily="18" charset="0"/>
              </a:rPr>
              <a:t>✔</a:t>
            </a:r>
            <a:r>
              <a:rPr lang="ro-RO" sz="1800" dirty="0" smtClean="0">
                <a:latin typeface="New times roman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New times roman"/>
                <a:cs typeface="Times New Roman" panose="02020603050405020304" pitchFamily="18" charset="0"/>
              </a:rPr>
              <a:t>REQ-89:</a:t>
            </a:r>
            <a:r>
              <a:rPr lang="en-US" sz="2000" dirty="0" smtClean="0">
                <a:latin typeface="New times roman"/>
                <a:cs typeface="Times New Roman" panose="02020603050405020304" pitchFamily="18" charset="0"/>
              </a:rPr>
              <a:t> Company staff and Administrators will be able to view, manage, and reply to customer Support Tickets from a dedicated dashboard.</a:t>
            </a:r>
            <a:endParaRPr lang="" sz="2000" smtClean="0">
              <a:latin typeface="New times roman"/>
              <a:cs typeface="Times New Roman" panose="02020603050405020304" pitchFamily="18" charset="0"/>
            </a:endParaRPr>
          </a:p>
          <a:p>
            <a:pPr algn="l"/>
            <a:endParaRPr lang="" sz="2000" smtClean="0"/>
          </a:p>
          <a:p>
            <a:r>
              <a:rPr lang="ro-RO" sz="2300" b="1" dirty="0" err="1">
                <a:latin typeface="New times roman"/>
              </a:rPr>
              <a:t>Invoicing</a:t>
            </a:r>
            <a:r>
              <a:rPr lang="ro-RO" sz="2300" b="1" dirty="0">
                <a:latin typeface="New times roman"/>
              </a:rPr>
              <a:t> &amp; </a:t>
            </a:r>
            <a:r>
              <a:rPr lang="ro-RO" sz="2300" b="1" dirty="0" err="1">
                <a:latin typeface="New times roman"/>
              </a:rPr>
              <a:t>Billing</a:t>
            </a:r>
            <a:r>
              <a:rPr lang="ro-RO" sz="2300" b="1" dirty="0">
                <a:latin typeface="New times roman"/>
              </a:rPr>
              <a:t> </a:t>
            </a:r>
            <a:r>
              <a:rPr lang="ro-RO" sz="2300" b="1" dirty="0" smtClean="0">
                <a:latin typeface="New times roman"/>
              </a:rPr>
              <a:t>Module</a:t>
            </a:r>
            <a:endParaRPr lang="" sz="2300" b="1" smtClean="0">
              <a:latin typeface="New times roman"/>
            </a:endParaRPr>
          </a:p>
          <a:p>
            <a:endParaRPr lang="" sz="2600" b="1" smtClean="0">
              <a:latin typeface="New times roman"/>
            </a:endParaRPr>
          </a:p>
          <a:p>
            <a:pPr algn="l"/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1" dirty="0" smtClean="0">
                <a:latin typeface="New times roman"/>
                <a:cs typeface="Times New Roman" panose="02020603050405020304" pitchFamily="18" charset="0"/>
              </a:rPr>
              <a:t>REQ-90</a:t>
            </a:r>
            <a:r>
              <a:rPr lang="en-US" sz="2000" b="1" dirty="0">
                <a:latin typeface="New times roman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New times roman"/>
                <a:cs typeface="Times New Roman" panose="02020603050405020304" pitchFamily="18" charset="0"/>
              </a:rPr>
              <a:t> The system will automatically generate an invoice for the customer once a transport job is completed (Delivered</a:t>
            </a:r>
            <a:r>
              <a:rPr lang="en-US" sz="2000" dirty="0" smtClean="0">
                <a:latin typeface="New times roman"/>
                <a:cs typeface="Times New Roman" panose="02020603050405020304" pitchFamily="18" charset="0"/>
              </a:rPr>
              <a:t>).</a:t>
            </a:r>
            <a:endParaRPr lang="" sz="2000" smtClean="0">
              <a:latin typeface="New times roman"/>
              <a:cs typeface="Times New Roman" panose="02020603050405020304" pitchFamily="18" charset="0"/>
            </a:endParaRPr>
          </a:p>
          <a:p>
            <a:pPr algn="l"/>
            <a:endParaRPr lang="en-US" sz="2000" dirty="0">
              <a:latin typeface="New times roman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latin typeface="New times roman"/>
                <a:cs typeface="Times New Roman" panose="02020603050405020304" pitchFamily="18" charset="0"/>
              </a:rPr>
              <a:t>✔</a:t>
            </a:r>
            <a:r>
              <a:rPr lang="ro-RO" sz="1800" dirty="0">
                <a:latin typeface="New times roman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New times roman"/>
                <a:cs typeface="Times New Roman" panose="02020603050405020304" pitchFamily="18" charset="0"/>
              </a:rPr>
              <a:t>REQ-91</a:t>
            </a:r>
            <a:r>
              <a:rPr lang="en-US" sz="2000" b="1" dirty="0">
                <a:latin typeface="New times roman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New times roman"/>
                <a:cs typeface="Times New Roman" panose="02020603050405020304" pitchFamily="18" charset="0"/>
              </a:rPr>
              <a:t> Customers will have a dedicated "Invoices &amp; Billing" dashboard to view their payment history</a:t>
            </a:r>
            <a:r>
              <a:rPr lang="en-US" sz="2000" dirty="0" smtClean="0">
                <a:latin typeface="New times roman"/>
                <a:cs typeface="Times New Roman" panose="02020603050405020304" pitchFamily="18" charset="0"/>
              </a:rPr>
              <a:t>.</a:t>
            </a:r>
            <a:endParaRPr lang="" sz="2000" smtClean="0">
              <a:latin typeface="New times roman"/>
              <a:cs typeface="Times New Roman" panose="02020603050405020304" pitchFamily="18" charset="0"/>
            </a:endParaRPr>
          </a:p>
          <a:p>
            <a:pPr algn="l"/>
            <a:endParaRPr lang="en-US" sz="2000" dirty="0">
              <a:latin typeface="New times roman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latin typeface="New times roman"/>
                <a:cs typeface="Times New Roman" panose="02020603050405020304" pitchFamily="18" charset="0"/>
              </a:rPr>
              <a:t>✔</a:t>
            </a:r>
            <a:r>
              <a:rPr lang="ro-RO" sz="1800" dirty="0">
                <a:latin typeface="New times roman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New times roman"/>
                <a:cs typeface="Times New Roman" panose="02020603050405020304" pitchFamily="18" charset="0"/>
              </a:rPr>
              <a:t>REQ-92</a:t>
            </a:r>
            <a:r>
              <a:rPr lang="en-US" sz="2000" b="1" dirty="0">
                <a:latin typeface="New times roman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New times roman"/>
                <a:cs typeface="Times New Roman" panose="02020603050405020304" pitchFamily="18" charset="0"/>
              </a:rPr>
              <a:t> Customers will be able to process payments for pending invoices directly through the system</a:t>
            </a:r>
            <a:r>
              <a:rPr lang="en-US" sz="2000" dirty="0" smtClean="0">
                <a:latin typeface="New times roman"/>
                <a:cs typeface="Times New Roman" panose="02020603050405020304" pitchFamily="18" charset="0"/>
              </a:rPr>
              <a:t>.</a:t>
            </a:r>
            <a:endParaRPr lang="" sz="2000" smtClean="0">
              <a:latin typeface="New times roman"/>
              <a:cs typeface="Times New Roman" panose="02020603050405020304" pitchFamily="18" charset="0"/>
            </a:endParaRPr>
          </a:p>
          <a:p>
            <a:pPr algn="l"/>
            <a:endParaRPr lang="en-US" sz="2000" dirty="0">
              <a:latin typeface="New times roman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latin typeface="New times roman"/>
                <a:cs typeface="Times New Roman" panose="02020603050405020304" pitchFamily="18" charset="0"/>
              </a:rPr>
              <a:t>✔</a:t>
            </a:r>
            <a:r>
              <a:rPr lang="ro-RO" sz="1800" dirty="0">
                <a:latin typeface="New times roman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New times roman"/>
                <a:cs typeface="Times New Roman" panose="02020603050405020304" pitchFamily="18" charset="0"/>
              </a:rPr>
              <a:t>REQ-93</a:t>
            </a:r>
            <a:r>
              <a:rPr lang="en-US" sz="2000" b="1" dirty="0">
                <a:latin typeface="New times roman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New times roman"/>
                <a:cs typeface="Times New Roman" panose="02020603050405020304" pitchFamily="18" charset="0"/>
              </a:rPr>
              <a:t> Staff and Administrators will have an interface to track unpaid and paid invoices across all clients.</a:t>
            </a:r>
          </a:p>
          <a:p>
            <a:pPr algn="l"/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tăText 3"/>
          <p:cNvSpPr txBox="1"/>
          <p:nvPr/>
        </p:nvSpPr>
        <p:spPr>
          <a:xfrm>
            <a:off x="71760" y="0"/>
            <a:ext cx="9505056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b="1" dirty="0" err="1"/>
              <a:t>Advanced</a:t>
            </a:r>
            <a:r>
              <a:rPr lang="ro-RO" b="1" dirty="0"/>
              <a:t> </a:t>
            </a:r>
            <a:r>
              <a:rPr lang="ro-RO" b="1" dirty="0" err="1"/>
              <a:t>User</a:t>
            </a:r>
            <a:r>
              <a:rPr lang="ro-RO" b="1" dirty="0"/>
              <a:t> Profile &amp; Avatar Management</a:t>
            </a:r>
          </a:p>
          <a:p>
            <a:r>
              <a:rPr lang="en-US" dirty="0"/>
              <a:t>✔</a:t>
            </a:r>
            <a:r>
              <a:rPr lang="ro-RO" dirty="0"/>
              <a:t> </a:t>
            </a:r>
            <a:r>
              <a:rPr lang="en-US" sz="1400" b="1" dirty="0" smtClean="0">
                <a:latin typeface="New times roman"/>
                <a:cs typeface="Times New Roman" panose="02020603050405020304" pitchFamily="18" charset="0"/>
              </a:rPr>
              <a:t>REQ-94:</a:t>
            </a:r>
            <a:r>
              <a:rPr lang="en-US" sz="1400" dirty="0" smtClean="0">
                <a:latin typeface="New times roman"/>
                <a:cs typeface="Times New Roman" panose="02020603050405020304" pitchFamily="18" charset="0"/>
              </a:rPr>
              <a:t> The system shall allow all users (Customers, Staff, Drivers, Admins) to upload and update a custom profile picture (avatar).</a:t>
            </a:r>
            <a:endParaRPr lang="" sz="1400" smtClean="0">
              <a:latin typeface="New times roman"/>
              <a:cs typeface="Times New Roman" panose="02020603050405020304" pitchFamily="18" charset="0"/>
            </a:endParaRPr>
          </a:p>
          <a:p>
            <a:endParaRPr lang="en-US" sz="1400" dirty="0" smtClean="0">
              <a:latin typeface="New times roman"/>
              <a:cs typeface="Times New Roman" panose="02020603050405020304" pitchFamily="18" charset="0"/>
            </a:endParaRPr>
          </a:p>
          <a:p>
            <a:r>
              <a:rPr lang="en-US" sz="1400" dirty="0" smtClean="0">
                <a:latin typeface="New times roman"/>
                <a:cs typeface="Times New Roman" panose="02020603050405020304" pitchFamily="18" charset="0"/>
              </a:rPr>
              <a:t>✔</a:t>
            </a:r>
            <a:r>
              <a:rPr lang="ro-RO" sz="1400" dirty="0" smtClean="0">
                <a:latin typeface="New times roman"/>
                <a:cs typeface="Times New Roman" panose="02020603050405020304" pitchFamily="18" charset="0"/>
              </a:rPr>
              <a:t> </a:t>
            </a:r>
            <a:r>
              <a:rPr lang="en-US" sz="1400" b="1" dirty="0" smtClean="0">
                <a:latin typeface="New times roman"/>
                <a:cs typeface="Times New Roman" panose="02020603050405020304" pitchFamily="18" charset="0"/>
              </a:rPr>
              <a:t>REQ-95:</a:t>
            </a:r>
            <a:r>
              <a:rPr lang="en-US" sz="1400" dirty="0" smtClean="0">
                <a:latin typeface="New times roman"/>
                <a:cs typeface="Times New Roman" panose="02020603050405020304" pitchFamily="18" charset="0"/>
              </a:rPr>
              <a:t> The system shall dynamically display the user's profile picture and role in the top navigation bar across all pages.</a:t>
            </a:r>
            <a:endParaRPr lang="" sz="1400" smtClean="0">
              <a:latin typeface="New times roman"/>
              <a:cs typeface="Times New Roman" panose="02020603050405020304" pitchFamily="18" charset="0"/>
            </a:endParaRPr>
          </a:p>
          <a:p>
            <a:endParaRPr lang="en-US" sz="1400" dirty="0" smtClean="0">
              <a:latin typeface="New times roman"/>
              <a:cs typeface="Times New Roman" panose="02020603050405020304" pitchFamily="18" charset="0"/>
            </a:endParaRPr>
          </a:p>
          <a:p>
            <a:r>
              <a:rPr lang="en-US" sz="1400" dirty="0" smtClean="0">
                <a:latin typeface="New times roman"/>
                <a:cs typeface="Times New Roman" panose="02020603050405020304" pitchFamily="18" charset="0"/>
              </a:rPr>
              <a:t>✔</a:t>
            </a:r>
            <a:r>
              <a:rPr lang="ro-RO" sz="1400" dirty="0" smtClean="0">
                <a:latin typeface="New times roman"/>
                <a:cs typeface="Times New Roman" panose="02020603050405020304" pitchFamily="18" charset="0"/>
              </a:rPr>
              <a:t> </a:t>
            </a:r>
            <a:r>
              <a:rPr lang="en-US" sz="1400" b="1" dirty="0" smtClean="0">
                <a:latin typeface="New times roman"/>
                <a:cs typeface="Times New Roman" panose="02020603050405020304" pitchFamily="18" charset="0"/>
              </a:rPr>
              <a:t>REQ-96:</a:t>
            </a:r>
            <a:r>
              <a:rPr lang="en-US" sz="1400" dirty="0" smtClean="0">
                <a:latin typeface="New times roman"/>
                <a:cs typeface="Times New Roman" panose="02020603050405020304" pitchFamily="18" charset="0"/>
              </a:rPr>
              <a:t> Users will be able to update their personal information (email, phone, address, name) and securely change their password from a dedicated Profile page.</a:t>
            </a:r>
            <a:endParaRPr lang="" sz="1400" smtClean="0">
              <a:latin typeface="New times roman"/>
              <a:cs typeface="Times New Roman" panose="02020603050405020304" pitchFamily="18" charset="0"/>
            </a:endParaRPr>
          </a:p>
          <a:p>
            <a:endParaRPr lang="" smtClean="0">
              <a:latin typeface="New times roman"/>
              <a:cs typeface="Times New Roman" panose="02020603050405020304" pitchFamily="18" charset="0"/>
            </a:endParaRPr>
          </a:p>
          <a:p>
            <a:pPr algn="ctr"/>
            <a:r>
              <a:rPr lang="en-US" b="1" dirty="0" smtClean="0">
                <a:latin typeface="New times roman"/>
              </a:rPr>
              <a:t>Live </a:t>
            </a:r>
            <a:r>
              <a:rPr lang="en-US" b="1" dirty="0">
                <a:latin typeface="New times roman"/>
              </a:rPr>
              <a:t>GPS Tracking &amp; Interactive Mapping</a:t>
            </a:r>
            <a:endParaRPr lang="" b="1" smtClean="0">
              <a:latin typeface="New times roman"/>
            </a:endParaRPr>
          </a:p>
          <a:p>
            <a:r>
              <a:rPr lang="en-US" dirty="0">
                <a:latin typeface="New times roman"/>
              </a:rPr>
              <a:t>✔</a:t>
            </a:r>
            <a:r>
              <a:rPr lang="ro-RO" dirty="0">
                <a:latin typeface="New times roman"/>
              </a:rPr>
              <a:t> </a:t>
            </a:r>
            <a:r>
              <a:rPr lang="en-US" sz="1400" b="1" dirty="0" smtClean="0">
                <a:latin typeface="New times roman"/>
                <a:cs typeface="Times New Roman" panose="02020603050405020304" pitchFamily="18" charset="0"/>
              </a:rPr>
              <a:t>REQ-97</a:t>
            </a:r>
            <a:r>
              <a:rPr lang="en-US" sz="1400" b="1" dirty="0">
                <a:latin typeface="New times roman"/>
                <a:cs typeface="Times New Roman" panose="02020603050405020304" pitchFamily="18" charset="0"/>
              </a:rPr>
              <a:t>:</a:t>
            </a:r>
            <a:r>
              <a:rPr lang="en-US" sz="1400" dirty="0">
                <a:latin typeface="New times roman"/>
                <a:cs typeface="Times New Roman" panose="02020603050405020304" pitchFamily="18" charset="0"/>
              </a:rPr>
              <a:t> The system shall integrate with a live map API (e.g., Leaflet/</a:t>
            </a:r>
            <a:r>
              <a:rPr lang="en-US" sz="1400" dirty="0" err="1">
                <a:latin typeface="New times roman"/>
                <a:cs typeface="Times New Roman" panose="02020603050405020304" pitchFamily="18" charset="0"/>
              </a:rPr>
              <a:t>OpenStreetMap</a:t>
            </a:r>
            <a:r>
              <a:rPr lang="en-US" sz="1400" dirty="0">
                <a:latin typeface="New times roman"/>
                <a:cs typeface="Times New Roman" panose="02020603050405020304" pitchFamily="18" charset="0"/>
              </a:rPr>
              <a:t>) to visually draw the exact road route between the pickup and delivery cities</a:t>
            </a:r>
            <a:r>
              <a:rPr lang="en-US" sz="1400" dirty="0" smtClean="0">
                <a:latin typeface="New times roman"/>
                <a:cs typeface="Times New Roman" panose="02020603050405020304" pitchFamily="18" charset="0"/>
              </a:rPr>
              <a:t>.</a:t>
            </a:r>
            <a:endParaRPr lang="" sz="1400" smtClean="0">
              <a:latin typeface="New times roman"/>
              <a:cs typeface="Times New Roman" panose="02020603050405020304" pitchFamily="18" charset="0"/>
            </a:endParaRPr>
          </a:p>
          <a:p>
            <a:endParaRPr lang="en-US" sz="1400" dirty="0">
              <a:latin typeface="New times roman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New times roman"/>
                <a:cs typeface="Times New Roman" panose="02020603050405020304" pitchFamily="18" charset="0"/>
              </a:rPr>
              <a:t>✔</a:t>
            </a:r>
            <a:r>
              <a:rPr lang="ro-RO" sz="1400" dirty="0">
                <a:latin typeface="New times roman"/>
                <a:cs typeface="Times New Roman" panose="02020603050405020304" pitchFamily="18" charset="0"/>
              </a:rPr>
              <a:t> </a:t>
            </a:r>
            <a:r>
              <a:rPr lang="en-US" sz="1400" b="1" dirty="0" smtClean="0">
                <a:latin typeface="New times roman"/>
                <a:cs typeface="Times New Roman" panose="02020603050405020304" pitchFamily="18" charset="0"/>
              </a:rPr>
              <a:t>REQ-98</a:t>
            </a:r>
            <a:r>
              <a:rPr lang="en-US" sz="1400" b="1" dirty="0">
                <a:latin typeface="New times roman"/>
                <a:cs typeface="Times New Roman" panose="02020603050405020304" pitchFamily="18" charset="0"/>
              </a:rPr>
              <a:t>:</a:t>
            </a:r>
            <a:r>
              <a:rPr lang="en-US" sz="1400" dirty="0">
                <a:latin typeface="New times roman"/>
                <a:cs typeface="Times New Roman" panose="02020603050405020304" pitchFamily="18" charset="0"/>
              </a:rPr>
              <a:t> The system shall feature a GPS Simulator that fetches real-time coordinates and moves a truck icon on the customer's map while the job is "In Transit</a:t>
            </a:r>
            <a:r>
              <a:rPr lang="en-US" sz="1400" dirty="0" smtClean="0">
                <a:latin typeface="New times roman"/>
                <a:cs typeface="Times New Roman" panose="02020603050405020304" pitchFamily="18" charset="0"/>
              </a:rPr>
              <a:t>".</a:t>
            </a:r>
            <a:endParaRPr lang="" sz="1400" smtClean="0">
              <a:latin typeface="New times roman"/>
              <a:cs typeface="Times New Roman" panose="02020603050405020304" pitchFamily="18" charset="0"/>
            </a:endParaRPr>
          </a:p>
          <a:p>
            <a:endParaRPr lang="" smtClean="0">
              <a:latin typeface="New times roman"/>
              <a:cs typeface="Times New Roman" panose="02020603050405020304" pitchFamily="18" charset="0"/>
            </a:endParaRPr>
          </a:p>
          <a:p>
            <a:pPr algn="ctr"/>
            <a:r>
              <a:rPr lang="ro-RO" b="1" dirty="0" err="1">
                <a:latin typeface="New times roman"/>
              </a:rPr>
              <a:t>System</a:t>
            </a:r>
            <a:r>
              <a:rPr lang="ro-RO" b="1" dirty="0">
                <a:latin typeface="New times roman"/>
              </a:rPr>
              <a:t> </a:t>
            </a:r>
            <a:r>
              <a:rPr lang="ro-RO" b="1" dirty="0" err="1">
                <a:latin typeface="New times roman"/>
              </a:rPr>
              <a:t>Logging</a:t>
            </a:r>
            <a:r>
              <a:rPr lang="ro-RO" b="1" dirty="0">
                <a:latin typeface="New times roman"/>
              </a:rPr>
              <a:t> </a:t>
            </a:r>
            <a:r>
              <a:rPr lang="ro-RO" b="1" dirty="0" err="1">
                <a:latin typeface="New times roman"/>
              </a:rPr>
              <a:t>Dashboard</a:t>
            </a:r>
            <a:r>
              <a:rPr lang="ro-RO" b="1" dirty="0">
                <a:latin typeface="New times roman"/>
              </a:rPr>
              <a:t> (</a:t>
            </a:r>
            <a:r>
              <a:rPr lang="ro-RO" b="1" dirty="0" err="1">
                <a:latin typeface="New times roman"/>
              </a:rPr>
              <a:t>Admin</a:t>
            </a:r>
            <a:r>
              <a:rPr lang="ro-RO" b="1" dirty="0">
                <a:latin typeface="New times roman"/>
              </a:rPr>
              <a:t>)</a:t>
            </a:r>
            <a:endParaRPr lang="en-US" b="1" dirty="0">
              <a:latin typeface="New times roman"/>
            </a:endParaRPr>
          </a:p>
          <a:p>
            <a:r>
              <a:rPr lang="en-US" sz="1400" dirty="0">
                <a:latin typeface="New times roman"/>
              </a:rPr>
              <a:t>✔</a:t>
            </a:r>
            <a:r>
              <a:rPr lang="ro-RO" sz="1400" dirty="0">
                <a:latin typeface="New times roman"/>
              </a:rPr>
              <a:t> </a:t>
            </a:r>
            <a:r>
              <a:rPr lang="en-US" sz="1400" b="1" dirty="0" smtClean="0">
                <a:latin typeface="New times roman"/>
                <a:cs typeface="Times New Roman" panose="02020603050405020304" pitchFamily="18" charset="0"/>
              </a:rPr>
              <a:t>REQ-99</a:t>
            </a:r>
            <a:r>
              <a:rPr lang="en-US" sz="1400" b="1" dirty="0">
                <a:latin typeface="New times roman"/>
                <a:cs typeface="Times New Roman" panose="02020603050405020304" pitchFamily="18" charset="0"/>
              </a:rPr>
              <a:t>:</a:t>
            </a:r>
            <a:r>
              <a:rPr lang="en-US" sz="1400" dirty="0">
                <a:latin typeface="New times roman"/>
                <a:cs typeface="Times New Roman" panose="02020603050405020304" pitchFamily="18" charset="0"/>
              </a:rPr>
              <a:t> The system shall provide a dedicated "System Logs" dashboard exclusive to Administrators</a:t>
            </a:r>
            <a:r>
              <a:rPr lang="en-US" sz="1400" dirty="0" smtClean="0">
                <a:latin typeface="New times roman"/>
                <a:cs typeface="Times New Roman" panose="02020603050405020304" pitchFamily="18" charset="0"/>
              </a:rPr>
              <a:t>.</a:t>
            </a:r>
            <a:endParaRPr lang="" sz="1400" smtClean="0">
              <a:latin typeface="New times roman"/>
              <a:cs typeface="Times New Roman" panose="02020603050405020304" pitchFamily="18" charset="0"/>
            </a:endParaRPr>
          </a:p>
          <a:p>
            <a:endParaRPr lang="en-US" sz="1400" dirty="0">
              <a:latin typeface="New times roman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New times roman"/>
                <a:cs typeface="Times New Roman" panose="02020603050405020304" pitchFamily="18" charset="0"/>
              </a:rPr>
              <a:t>✔</a:t>
            </a:r>
            <a:r>
              <a:rPr lang="ro-RO" sz="1400" dirty="0">
                <a:latin typeface="New times roman"/>
                <a:cs typeface="Times New Roman" panose="02020603050405020304" pitchFamily="18" charset="0"/>
              </a:rPr>
              <a:t> </a:t>
            </a:r>
            <a:r>
              <a:rPr lang="en-US" sz="1400" b="1" dirty="0" smtClean="0">
                <a:latin typeface="New times roman"/>
                <a:cs typeface="Times New Roman" panose="02020603050405020304" pitchFamily="18" charset="0"/>
              </a:rPr>
              <a:t>REQ-100</a:t>
            </a:r>
            <a:r>
              <a:rPr lang="en-US" sz="1400" b="1" dirty="0">
                <a:latin typeface="New times roman"/>
                <a:cs typeface="Times New Roman" panose="02020603050405020304" pitchFamily="18" charset="0"/>
              </a:rPr>
              <a:t>:</a:t>
            </a:r>
            <a:r>
              <a:rPr lang="en-US" sz="1400" dirty="0">
                <a:latin typeface="New times roman"/>
                <a:cs typeface="Times New Roman" panose="02020603050405020304" pitchFamily="18" charset="0"/>
              </a:rPr>
              <a:t> The system logs will visually track and display backend errors, database events, and security warnings for easier debugging and maintenance.</a:t>
            </a:r>
          </a:p>
          <a:p>
            <a:endParaRPr lang="en-US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08951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Words>1840</Words>
  <Application>Microsoft Office PowerPoint</Application>
  <PresentationFormat>Particularizare</PresentationFormat>
  <Paragraphs>135</Paragraphs>
  <Slides>14</Slides>
  <Notes>0</Notes>
  <HiddenSlides>0</HiddenSlides>
  <MMClips>0</MMClips>
  <ScaleCrop>false</ScaleCrop>
  <HeadingPairs>
    <vt:vector size="4" baseType="variant">
      <vt:variant>
        <vt:lpstr>Temă</vt:lpstr>
      </vt:variant>
      <vt:variant>
        <vt:i4>1</vt:i4>
      </vt:variant>
      <vt:variant>
        <vt:lpstr>Titluri diapozitive</vt:lpstr>
      </vt:variant>
      <vt:variant>
        <vt:i4>14</vt:i4>
      </vt:variant>
    </vt:vector>
  </HeadingPairs>
  <TitlesOfParts>
    <vt:vector size="15" baseType="lpstr">
      <vt:lpstr>Office</vt:lpstr>
      <vt:lpstr>Transport Company Management System</vt:lpstr>
      <vt:lpstr>User Authentification</vt:lpstr>
      <vt:lpstr>Fleet Management</vt:lpstr>
      <vt:lpstr>Driver Management</vt:lpstr>
      <vt:lpstr>Client Portal &amp; Requests</vt:lpstr>
      <vt:lpstr>Logistics Notification &amp; Storage</vt:lpstr>
      <vt:lpstr>Allocation Module</vt:lpstr>
      <vt:lpstr>Price Offer Generation</vt:lpstr>
      <vt:lpstr>Customer Offer Workflow</vt:lpstr>
      <vt:lpstr>Job Scheduling &amp; Tracking</vt:lpstr>
      <vt:lpstr>Auditing, Search, and Visualization</vt:lpstr>
      <vt:lpstr>Reporting Module</vt:lpstr>
      <vt:lpstr>Additional Features</vt:lpstr>
      <vt:lpstr>Prezentare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Transport Company Management System</dc:title>
  <dc:subject/>
  <dc:creator/>
  <dc:description/>
  <cp:lastModifiedBy>POPA-ION ANDREI</cp:lastModifiedBy>
  <cp:revision>62</cp:revision>
  <dcterms:created xsi:type="dcterms:W3CDTF">2026-04-17T23:54:21Z</dcterms:created>
  <dcterms:modified xsi:type="dcterms:W3CDTF">2026-05-08T14:39:06Z</dcterms:modified>
  <dc:language>en-US</dc:language>
</cp:coreProperties>
</file>